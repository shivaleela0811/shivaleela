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5" r:id="rId13"/>
    <p:sldId id="26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valeela Kandagal" userId="50634b3b3fcea1d6" providerId="LiveId" clId="{0E79862F-0C8D-4D15-94B6-6097C42ACB39}"/>
    <pc:docChg chg="modSld">
      <pc:chgData name="shivaleela Kandagal" userId="50634b3b3fcea1d6" providerId="LiveId" clId="{0E79862F-0C8D-4D15-94B6-6097C42ACB39}" dt="2025-11-11T14:42:06.933" v="6" actId="1076"/>
      <pc:docMkLst>
        <pc:docMk/>
      </pc:docMkLst>
      <pc:sldChg chg="modSp mod">
        <pc:chgData name="shivaleela Kandagal" userId="50634b3b3fcea1d6" providerId="LiveId" clId="{0E79862F-0C8D-4D15-94B6-6097C42ACB39}" dt="2025-11-11T14:42:06.933" v="6" actId="1076"/>
        <pc:sldMkLst>
          <pc:docMk/>
          <pc:sldMk cId="238215179" sldId="267"/>
        </pc:sldMkLst>
        <pc:spChg chg="mod">
          <ac:chgData name="shivaleela Kandagal" userId="50634b3b3fcea1d6" providerId="LiveId" clId="{0E79862F-0C8D-4D15-94B6-6097C42ACB39}" dt="2025-11-11T14:41:58.319" v="4" actId="14100"/>
          <ac:spMkLst>
            <pc:docMk/>
            <pc:sldMk cId="238215179" sldId="267"/>
            <ac:spMk id="2" creationId="{6025B877-843B-41F9-92B0-5171C4F55BFE}"/>
          </ac:spMkLst>
        </pc:spChg>
        <pc:picChg chg="mod">
          <ac:chgData name="shivaleela Kandagal" userId="50634b3b3fcea1d6" providerId="LiveId" clId="{0E79862F-0C8D-4D15-94B6-6097C42ACB39}" dt="2025-11-11T14:42:06.933" v="6" actId="1076"/>
          <ac:picMkLst>
            <pc:docMk/>
            <pc:sldMk cId="238215179" sldId="267"/>
            <ac:picMk id="4" creationId="{C62C9BDF-E0C3-47D2-9B4C-FB2817E30789}"/>
          </ac:picMkLst>
        </pc:picChg>
      </pc:sldChg>
      <pc:sldChg chg="modSp mod">
        <pc:chgData name="shivaleela Kandagal" userId="50634b3b3fcea1d6" providerId="LiveId" clId="{0E79862F-0C8D-4D15-94B6-6097C42ACB39}" dt="2025-11-11T14:37:49.726" v="3" actId="113"/>
        <pc:sldMkLst>
          <pc:docMk/>
          <pc:sldMk cId="3995655775" sldId="268"/>
        </pc:sldMkLst>
        <pc:spChg chg="mod">
          <ac:chgData name="shivaleela Kandagal" userId="50634b3b3fcea1d6" providerId="LiveId" clId="{0E79862F-0C8D-4D15-94B6-6097C42ACB39}" dt="2025-11-11T14:37:49.726" v="3" actId="113"/>
          <ac:spMkLst>
            <pc:docMk/>
            <pc:sldMk cId="3995655775" sldId="268"/>
            <ac:spMk id="2" creationId="{9E64AD21-D2A2-4260-B399-3D4E9CA6CD8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FB9AD-8E62-401A-B663-992527053F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3365" y="1300786"/>
            <a:ext cx="10336306" cy="2509214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Bahnschrift Condensed" panose="020B0502040204020203" pitchFamily="34" charset="0"/>
              </a:rPr>
              <a:t>Water Level Controller System</a:t>
            </a:r>
          </a:p>
        </p:txBody>
      </p:sp>
    </p:spTree>
    <p:extLst>
      <p:ext uri="{BB962C8B-B14F-4D97-AF65-F5344CB8AC3E}">
        <p14:creationId xmlns:p14="http://schemas.microsoft.com/office/powerpoint/2010/main" val="2371907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910CA-EE76-4B96-9394-5489C9FC8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86871"/>
            <a:ext cx="10364451" cy="896471"/>
          </a:xfrm>
        </p:spPr>
        <p:txBody>
          <a:bodyPr>
            <a:noAutofit/>
          </a:bodyPr>
          <a:lstStyle/>
          <a:p>
            <a:r>
              <a:rPr lang="en-US" b="1" dirty="0">
                <a:latin typeface="+mn-lt"/>
              </a:rPr>
              <a:t>Introduction</a:t>
            </a:r>
            <a:br>
              <a:rPr lang="en-US" b="1" dirty="0">
                <a:latin typeface="+mn-lt"/>
              </a:rPr>
            </a:b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76859-C791-4CDC-9DCE-771DD3B649A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950258"/>
            <a:ext cx="10363826" cy="5782235"/>
          </a:xfrm>
        </p:spPr>
        <p:txBody>
          <a:bodyPr>
            <a:normAutofit/>
          </a:bodyPr>
          <a:lstStyle/>
          <a:p>
            <a:pPr algn="just"/>
            <a:r>
              <a:rPr lang="en-US" sz="2400" cap="none" dirty="0"/>
              <a:t>Water management systems have become essential components of smart homes and industries. Traditional manual monitoring methods lead to water overflow and wastage. Automation using digital circuits eliminates this problem.</a:t>
            </a:r>
          </a:p>
          <a:p>
            <a:pPr algn="just"/>
            <a:r>
              <a:rPr lang="en-US" sz="2400" cap="none" dirty="0"/>
              <a:t>This project demonstrates a </a:t>
            </a:r>
            <a:r>
              <a:rPr lang="en-US" sz="2400" b="1" cap="none" dirty="0" err="1"/>
              <a:t>verilog</a:t>
            </a:r>
            <a:r>
              <a:rPr lang="en-US" sz="2400" b="1" cap="none" dirty="0"/>
              <a:t>-based water level monitoring system</a:t>
            </a:r>
            <a:r>
              <a:rPr lang="en-US" sz="2400" cap="none" dirty="0"/>
              <a:t>, representing the tank level using digital inputs. Logic is implemented to control a motor based on these inputs.</a:t>
            </a:r>
          </a:p>
          <a:p>
            <a:pPr algn="just"/>
            <a:r>
              <a:rPr lang="en-US" sz="2400" cap="none" dirty="0"/>
              <a:t> The </a:t>
            </a:r>
            <a:r>
              <a:rPr lang="en-US" sz="2400" cap="none" dirty="0" err="1"/>
              <a:t>verilog</a:t>
            </a:r>
            <a:r>
              <a:rPr lang="en-US" sz="2400" cap="none" dirty="0"/>
              <a:t> code mimics sensor readings from various levels (low, medium, high) and drives the motor automatically, depending on the tank’s water level.</a:t>
            </a:r>
          </a:p>
          <a:p>
            <a:pPr algn="just"/>
            <a:r>
              <a:rPr lang="en-US" sz="2400" cap="none" dirty="0"/>
              <a:t>The system can be integrated with embedded or </a:t>
            </a:r>
            <a:r>
              <a:rPr lang="en-US" sz="2400" cap="none" dirty="0" err="1"/>
              <a:t>iot</a:t>
            </a:r>
            <a:r>
              <a:rPr lang="en-US" sz="2400" cap="none" dirty="0"/>
              <a:t> controllers for real-time control and monitoring, thus serving as a base for future smart water management systems.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328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A0E53-C177-4945-B38C-B614ADEE8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322730"/>
            <a:ext cx="10364451" cy="887506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Abstract</a:t>
            </a:r>
            <a:br>
              <a:rPr lang="en-US" sz="3600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6619D-82D2-42B1-906E-3FE4DAC6EAF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326776"/>
            <a:ext cx="10363826" cy="4966448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400" cap="none" dirty="0"/>
              <a:t>Water scarcity and wastage are major challenges in today’s world. An automated </a:t>
            </a:r>
            <a:r>
              <a:rPr lang="en-US" sz="2400" b="1" cap="none" dirty="0"/>
              <a:t>water level controller</a:t>
            </a:r>
            <a:r>
              <a:rPr lang="en-US" sz="2400" cap="none" dirty="0"/>
              <a:t> helps conserve water by monitoring and controlling the water level in tanks without human intervention.</a:t>
            </a:r>
          </a:p>
          <a:p>
            <a:pPr marL="0" indent="0" algn="just">
              <a:buNone/>
            </a:pPr>
            <a:endParaRPr lang="en-US" sz="2400" cap="none" dirty="0"/>
          </a:p>
          <a:p>
            <a:pPr algn="just"/>
            <a:r>
              <a:rPr lang="en-US" sz="2400" cap="none" dirty="0"/>
              <a:t>In this project, a digital water level controller is designed using </a:t>
            </a:r>
            <a:r>
              <a:rPr lang="en-US" sz="2400" b="1" cap="none" dirty="0" err="1"/>
              <a:t>verilog</a:t>
            </a:r>
            <a:r>
              <a:rPr lang="en-US" sz="2400" b="1" cap="none" dirty="0"/>
              <a:t> </a:t>
            </a:r>
            <a:r>
              <a:rPr lang="en-US" sz="2400" b="1" cap="none" dirty="0" err="1"/>
              <a:t>hdl</a:t>
            </a:r>
            <a:r>
              <a:rPr lang="en-US" sz="2400" cap="none" dirty="0"/>
              <a:t> to detect and control the filling operation of a water tank based on sensor inputs.</a:t>
            </a:r>
          </a:p>
          <a:p>
            <a:pPr marL="0" indent="0" algn="just">
              <a:buNone/>
            </a:pPr>
            <a:endParaRPr lang="en-US" sz="2400" cap="none" dirty="0"/>
          </a:p>
          <a:p>
            <a:pPr algn="just"/>
            <a:r>
              <a:rPr lang="en-US" sz="2400" cap="none" dirty="0"/>
              <a:t>The system turns the motor </a:t>
            </a:r>
            <a:r>
              <a:rPr lang="en-US" sz="2400" b="1" cap="none" dirty="0"/>
              <a:t>on</a:t>
            </a:r>
            <a:r>
              <a:rPr lang="en-US" sz="2400" cap="none" dirty="0"/>
              <a:t> when the tank level is low and turns it </a:t>
            </a:r>
            <a:r>
              <a:rPr lang="en-US" sz="2400" b="1" cap="none" dirty="0"/>
              <a:t>off</a:t>
            </a:r>
            <a:r>
              <a:rPr lang="en-US" sz="2400" cap="none" dirty="0"/>
              <a:t> when the tank is full, preventing overflow. The circuit is simulated and verified on FPGA or </a:t>
            </a:r>
            <a:r>
              <a:rPr lang="en-US" sz="2400" cap="none" dirty="0" err="1"/>
              <a:t>verilog</a:t>
            </a:r>
            <a:r>
              <a:rPr lang="en-US" sz="2400" cap="none" dirty="0"/>
              <a:t> simulation tools such as </a:t>
            </a:r>
            <a:r>
              <a:rPr lang="en-US" sz="2400" i="1" cap="none" dirty="0" err="1"/>
              <a:t>xilinx</a:t>
            </a:r>
            <a:r>
              <a:rPr lang="en-US" sz="2400" i="1" cap="none" dirty="0"/>
              <a:t> ISE</a:t>
            </a:r>
            <a:r>
              <a:rPr lang="en-US" sz="2400" cap="none" dirty="0"/>
              <a:t> or </a:t>
            </a:r>
            <a:r>
              <a:rPr lang="en-US" sz="2400" i="1" cap="none" dirty="0" err="1"/>
              <a:t>modelsim</a:t>
            </a:r>
            <a:r>
              <a:rPr lang="en-US" sz="2400" cap="none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872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8A661-5025-4DEB-AC0B-A880AD334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77906"/>
            <a:ext cx="10364451" cy="896470"/>
          </a:xfrm>
        </p:spPr>
        <p:txBody>
          <a:bodyPr/>
          <a:lstStyle/>
          <a:p>
            <a:r>
              <a:rPr lang="en-US" sz="3600" b="1" dirty="0"/>
              <a:t>Workflow / Block Diagram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4597C9-C6AC-4113-AA05-34A71866AB89}"/>
              </a:ext>
            </a:extLst>
          </p:cNvPr>
          <p:cNvSpPr txBox="1"/>
          <p:nvPr/>
        </p:nvSpPr>
        <p:spPr>
          <a:xfrm>
            <a:off x="2913529" y="1246094"/>
            <a:ext cx="6615953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/>
              <a:t>Inputs:</a:t>
            </a:r>
            <a:r>
              <a:rPr lang="en-US" sz="2000" dirty="0" err="1"/>
              <a:t>low</a:t>
            </a:r>
            <a:r>
              <a:rPr lang="en-US" sz="2000" dirty="0"/>
              <a:t> → sensor at bottom (1 = low level detected)</a:t>
            </a:r>
          </a:p>
          <a:p>
            <a:r>
              <a:rPr lang="en-US" sz="2000" dirty="0"/>
              <a:t>             Mid → sensor at mid level (1 = mid level detected)</a:t>
            </a:r>
          </a:p>
          <a:p>
            <a:r>
              <a:rPr lang="en-US" sz="2000" dirty="0"/>
              <a:t>             High → sensor at top (1 = full tank detected)</a:t>
            </a:r>
          </a:p>
          <a:p>
            <a:r>
              <a:rPr lang="en-US" sz="2000" b="1" dirty="0" err="1"/>
              <a:t>Output:</a:t>
            </a:r>
            <a:r>
              <a:rPr lang="en-US" sz="2000" dirty="0" err="1"/>
              <a:t>motor</a:t>
            </a:r>
            <a:r>
              <a:rPr lang="en-US" sz="2000" dirty="0"/>
              <a:t> → 1 = ON, 0 = </a:t>
            </a:r>
            <a:r>
              <a:rPr lang="en-US" sz="2000" dirty="0" err="1"/>
              <a:t>offlogic</a:t>
            </a:r>
            <a:r>
              <a:rPr lang="en-US" sz="2000" dirty="0"/>
              <a:t> </a:t>
            </a:r>
          </a:p>
          <a:p>
            <a:endParaRPr lang="en-US" sz="2000" dirty="0"/>
          </a:p>
          <a:p>
            <a:r>
              <a:rPr lang="en-US" sz="2000" b="1" dirty="0"/>
              <a:t>Workflow:</a:t>
            </a:r>
            <a:r>
              <a:rPr lang="en-US" sz="2000" dirty="0"/>
              <a:t>        +-----------------------------+       </a:t>
            </a:r>
          </a:p>
          <a:p>
            <a:r>
              <a:rPr lang="en-US" sz="2000" dirty="0"/>
              <a:t>                      |        water level logic    |      </a:t>
            </a:r>
          </a:p>
          <a:p>
            <a:r>
              <a:rPr lang="en-US" sz="2000" dirty="0"/>
              <a:t>                        +-----------------------------+      </a:t>
            </a:r>
          </a:p>
          <a:p>
            <a:r>
              <a:rPr lang="en-US" sz="2000" dirty="0"/>
              <a:t>                      |  low=1 &amp; high=0 → ON |      </a:t>
            </a:r>
          </a:p>
          <a:p>
            <a:r>
              <a:rPr lang="en-US" sz="2000" dirty="0"/>
              <a:t>                       |  high=1         → OFF     |      </a:t>
            </a:r>
          </a:p>
          <a:p>
            <a:r>
              <a:rPr lang="en-US" sz="2000" dirty="0"/>
              <a:t>                       |   else retain </a:t>
            </a:r>
            <a:r>
              <a:rPr lang="en-US" sz="2000" dirty="0" err="1"/>
              <a:t>prev</a:t>
            </a:r>
            <a:r>
              <a:rPr lang="en-US" sz="2000" dirty="0"/>
              <a:t> state   |     </a:t>
            </a:r>
          </a:p>
          <a:p>
            <a:r>
              <a:rPr lang="en-US" sz="2000" dirty="0"/>
              <a:t>                        +-----------------------------+                    </a:t>
            </a:r>
          </a:p>
          <a:p>
            <a:r>
              <a:rPr lang="en-US" sz="2000" dirty="0"/>
              <a:t>                                          |                   </a:t>
            </a:r>
          </a:p>
          <a:p>
            <a:r>
              <a:rPr lang="en-US" sz="2000" dirty="0"/>
              <a:t>                                          v             </a:t>
            </a:r>
          </a:p>
          <a:p>
            <a:r>
              <a:rPr lang="en-US" sz="2000" dirty="0"/>
              <a:t>                            [motor output]</a:t>
            </a:r>
          </a:p>
        </p:txBody>
      </p:sp>
    </p:spTree>
    <p:extLst>
      <p:ext uri="{BB962C8B-B14F-4D97-AF65-F5344CB8AC3E}">
        <p14:creationId xmlns:p14="http://schemas.microsoft.com/office/powerpoint/2010/main" val="3383484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390940-B91A-4E69-9F55-DE73AE192948}"/>
              </a:ext>
            </a:extLst>
          </p:cNvPr>
          <p:cNvSpPr txBox="1"/>
          <p:nvPr/>
        </p:nvSpPr>
        <p:spPr>
          <a:xfrm>
            <a:off x="1242059" y="440771"/>
            <a:ext cx="9707881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METHODOLOGY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Components and inputs</a:t>
            </a:r>
          </a:p>
          <a:p>
            <a:pPr lvl="2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Inputs (sensors):</a:t>
            </a:r>
          </a:p>
          <a:p>
            <a:pPr lvl="3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S1 → low-level sensor</a:t>
            </a:r>
          </a:p>
          <a:p>
            <a:pPr lvl="3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S2 → mid-level sensor</a:t>
            </a:r>
          </a:p>
          <a:p>
            <a:pPr lvl="3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S3 → high-level sensor</a:t>
            </a:r>
          </a:p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Output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(actuator):</a:t>
            </a:r>
          </a:p>
          <a:p>
            <a:pPr lvl="2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Motor → controls water filling (on/off</a:t>
            </a:r>
          </a:p>
          <a:p>
            <a:pPr lvl="2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Logic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desigs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If all sensors (s1, s2, s3) are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low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the tank is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empty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motor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If all sensors are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the tank is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motor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off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For intermediate levels, the controller decides motor operation based 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Previous status.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logic is implemented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combinational and sequential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verilog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logic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simulate real-world control behavior.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16865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B76E5-4FEE-44CE-B811-94F4A11DA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358588"/>
            <a:ext cx="10364451" cy="905436"/>
          </a:xfrm>
        </p:spPr>
        <p:txBody>
          <a:bodyPr/>
          <a:lstStyle/>
          <a:p>
            <a:r>
              <a:rPr lang="en-US" sz="3600" b="1" dirty="0"/>
              <a:t>Proposed System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624AC-0F30-44AB-8CC8-03DBFB9625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344707"/>
            <a:ext cx="10363826" cy="4984376"/>
          </a:xfrm>
        </p:spPr>
        <p:txBody>
          <a:bodyPr>
            <a:normAutofit/>
          </a:bodyPr>
          <a:lstStyle/>
          <a:p>
            <a:pPr algn="just"/>
            <a:r>
              <a:rPr lang="en-US" sz="2400" cap="none" dirty="0"/>
              <a:t>The proposed system automates the process using digital logic control.</a:t>
            </a:r>
          </a:p>
          <a:p>
            <a:pPr algn="just"/>
            <a:r>
              <a:rPr lang="en-US" sz="2400" cap="none" dirty="0"/>
              <a:t> Three sensors are used to detect low (l), medium (m), and high (h) water levels.</a:t>
            </a:r>
          </a:p>
          <a:p>
            <a:pPr algn="just"/>
            <a:r>
              <a:rPr lang="en-US" sz="2400" cap="none" dirty="0"/>
              <a:t> Based on the sensor readings, the controller operates the motor as </a:t>
            </a:r>
            <a:r>
              <a:rPr lang="en-US" sz="2400" cap="none" dirty="0" err="1"/>
              <a:t>follows:when</a:t>
            </a:r>
            <a:r>
              <a:rPr lang="en-US" sz="2400" cap="none" dirty="0"/>
              <a:t> the water level is low, the motor turns on.</a:t>
            </a:r>
          </a:p>
          <a:p>
            <a:pPr algn="just"/>
            <a:r>
              <a:rPr lang="en-US" sz="2400" cap="none" dirty="0"/>
              <a:t>When the water level reaches high, the motor turns off.</a:t>
            </a:r>
          </a:p>
          <a:p>
            <a:pPr algn="just"/>
            <a:r>
              <a:rPr lang="en-US" sz="2400" cap="none" dirty="0"/>
              <a:t>If the water level is between low and high, the previous state of the motor is maintained.</a:t>
            </a:r>
          </a:p>
          <a:p>
            <a:pPr algn="just"/>
            <a:r>
              <a:rPr lang="en-US" sz="2400" cap="none" dirty="0"/>
              <a:t>The design is implemented in </a:t>
            </a:r>
            <a:r>
              <a:rPr lang="en-US" sz="2400" cap="none" dirty="0" err="1"/>
              <a:t>verilog</a:t>
            </a:r>
            <a:r>
              <a:rPr lang="en-US" sz="2400" cap="none" dirty="0"/>
              <a:t> </a:t>
            </a:r>
            <a:r>
              <a:rPr lang="en-US" sz="2400" cap="none" dirty="0" err="1"/>
              <a:t>hdl</a:t>
            </a:r>
            <a:r>
              <a:rPr lang="en-US" sz="2400" cap="none" dirty="0"/>
              <a:t>, which can be simulated using tools such as </a:t>
            </a:r>
            <a:r>
              <a:rPr lang="en-US" sz="2400" cap="none" dirty="0" err="1"/>
              <a:t>modelsim</a:t>
            </a:r>
            <a:r>
              <a:rPr lang="en-US" sz="2400" cap="none" dirty="0"/>
              <a:t>, </a:t>
            </a:r>
            <a:r>
              <a:rPr lang="en-US" sz="2400" cap="none" dirty="0" err="1"/>
              <a:t>xilinx</a:t>
            </a:r>
            <a:r>
              <a:rPr lang="en-US" sz="2400" cap="none" dirty="0"/>
              <a:t> </a:t>
            </a:r>
            <a:r>
              <a:rPr lang="en-US" sz="2400" cap="none" dirty="0" err="1"/>
              <a:t>ise</a:t>
            </a:r>
            <a:r>
              <a:rPr lang="en-US" sz="2400" cap="none" dirty="0"/>
              <a:t>, or </a:t>
            </a:r>
            <a:r>
              <a:rPr lang="en-US" sz="2400" cap="none" dirty="0" err="1"/>
              <a:t>vivado</a:t>
            </a:r>
            <a:r>
              <a:rPr lang="en-US" sz="2400" cap="none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370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1875C-E872-4F8F-9FA6-F39865AAA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139707" cy="600683"/>
          </a:xfrm>
        </p:spPr>
        <p:txBody>
          <a:bodyPr/>
          <a:lstStyle/>
          <a:p>
            <a:r>
              <a:rPr lang="en-US" b="1" dirty="0"/>
              <a:t>Water Level Controller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2F6C9-4B60-4806-871E-82300E10981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905425"/>
            <a:ext cx="5106026" cy="4334057"/>
          </a:xfrm>
        </p:spPr>
        <p:txBody>
          <a:bodyPr>
            <a:normAutofit fontScale="32500" lnSpcReduction="20000"/>
          </a:bodyPr>
          <a:lstStyle/>
          <a:p>
            <a:r>
              <a:rPr lang="en-US" sz="7400" cap="none" dirty="0"/>
              <a:t>Automation of water management </a:t>
            </a:r>
          </a:p>
          <a:p>
            <a:r>
              <a:rPr lang="en-US" sz="7400" cap="none" dirty="0"/>
              <a:t>Efficient hardware implementation</a:t>
            </a:r>
          </a:p>
          <a:p>
            <a:r>
              <a:rPr lang="en-US" sz="7400" cap="none" dirty="0"/>
              <a:t>Low power consumption</a:t>
            </a:r>
          </a:p>
          <a:p>
            <a:r>
              <a:rPr lang="en-US" sz="7400" cap="none" dirty="0"/>
              <a:t>Compact and reliable design</a:t>
            </a:r>
          </a:p>
          <a:p>
            <a:r>
              <a:rPr lang="en-US" sz="7400" cap="none" dirty="0"/>
              <a:t>Cost-effective solution</a:t>
            </a:r>
          </a:p>
          <a:p>
            <a:r>
              <a:rPr lang="en-US" sz="7400" cap="none" dirty="0"/>
              <a:t>Accurate water level detection</a:t>
            </a:r>
          </a:p>
          <a:p>
            <a:r>
              <a:rPr lang="en-US" sz="7400" cap="none" dirty="0"/>
              <a:t>Scalability and modifiability</a:t>
            </a:r>
          </a:p>
          <a:p>
            <a:r>
              <a:rPr lang="en-US" sz="7400" cap="none" dirty="0"/>
              <a:t>Fast simulation and testing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226724-1633-4698-8AAC-F0C6CE2599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97706" y="1905425"/>
            <a:ext cx="5105400" cy="3885774"/>
          </a:xfrm>
        </p:spPr>
        <p:txBody>
          <a:bodyPr/>
          <a:lstStyle/>
          <a:p>
            <a:r>
              <a:rPr lang="en-US" sz="2400" cap="none" dirty="0"/>
              <a:t>Requires hardware knowledge</a:t>
            </a:r>
          </a:p>
          <a:p>
            <a:r>
              <a:rPr lang="en-US" sz="2400" cap="none" dirty="0"/>
              <a:t>Limited by sensor accuracy</a:t>
            </a:r>
          </a:p>
          <a:p>
            <a:r>
              <a:rPr lang="en-US" sz="2400" cap="none" dirty="0"/>
              <a:t> Initial setup cost</a:t>
            </a:r>
          </a:p>
          <a:p>
            <a:r>
              <a:rPr lang="en-US" sz="2400" cap="none" dirty="0"/>
              <a:t> No built-in user interface</a:t>
            </a:r>
          </a:p>
          <a:p>
            <a:r>
              <a:rPr lang="en-US" sz="2400" cap="none" dirty="0"/>
              <a:t> Difficult for beginners</a:t>
            </a:r>
          </a:p>
          <a:p>
            <a:r>
              <a:rPr lang="en-US" sz="2400" cap="none" dirty="0"/>
              <a:t> Maintenance complexity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CEE3C8-AA4F-4478-8DE7-D276638BB15B}"/>
              </a:ext>
            </a:extLst>
          </p:cNvPr>
          <p:cNvSpPr txBox="1"/>
          <p:nvPr/>
        </p:nvSpPr>
        <p:spPr>
          <a:xfrm>
            <a:off x="1039280" y="1331480"/>
            <a:ext cx="103638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ADVANTAGES                                               DISADVANTAGES </a:t>
            </a:r>
          </a:p>
        </p:txBody>
      </p:sp>
    </p:spTree>
    <p:extLst>
      <p:ext uri="{BB962C8B-B14F-4D97-AF65-F5344CB8AC3E}">
        <p14:creationId xmlns:p14="http://schemas.microsoft.com/office/powerpoint/2010/main" val="3530347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B798E-D20A-4E45-BB8B-226C54DC1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24119"/>
            <a:ext cx="10364451" cy="797857"/>
          </a:xfrm>
        </p:spPr>
        <p:txBody>
          <a:bodyPr/>
          <a:lstStyle/>
          <a:p>
            <a:r>
              <a:rPr lang="en-US" b="1" dirty="0"/>
              <a:t>Verilog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EB13C6-910D-48A2-9B95-C469EB8B433E}"/>
              </a:ext>
            </a:extLst>
          </p:cNvPr>
          <p:cNvSpPr txBox="1"/>
          <p:nvPr/>
        </p:nvSpPr>
        <p:spPr>
          <a:xfrm>
            <a:off x="1927412" y="1192306"/>
            <a:ext cx="8606117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/ Smart Water Level Controller</a:t>
            </a:r>
          </a:p>
          <a:p>
            <a:r>
              <a:rPr lang="en-US" dirty="0"/>
              <a:t>// Developed for Embedded Systems / IoT Simulation</a:t>
            </a:r>
          </a:p>
          <a:p>
            <a:endParaRPr lang="en-US" dirty="0"/>
          </a:p>
          <a:p>
            <a:r>
              <a:rPr lang="en-US" dirty="0"/>
              <a:t>module </a:t>
            </a:r>
            <a:r>
              <a:rPr lang="en-US" dirty="0" err="1"/>
              <a:t>water_level_controller</a:t>
            </a:r>
            <a:r>
              <a:rPr lang="en-US" dirty="0"/>
              <a:t>(    input low, mid, high, </a:t>
            </a:r>
            <a:r>
              <a:rPr lang="en-US" dirty="0" err="1"/>
              <a:t>clk</a:t>
            </a:r>
            <a:r>
              <a:rPr lang="en-US" dirty="0"/>
              <a:t>, reset,    output reg motor);</a:t>
            </a:r>
          </a:p>
          <a:p>
            <a:r>
              <a:rPr lang="en-US" dirty="0"/>
              <a:t>always @(posedge </a:t>
            </a:r>
            <a:r>
              <a:rPr lang="en-US" dirty="0" err="1"/>
              <a:t>clk</a:t>
            </a:r>
            <a:r>
              <a:rPr lang="en-US" dirty="0"/>
              <a:t> or </a:t>
            </a:r>
            <a:r>
              <a:rPr lang="en-US" dirty="0" err="1"/>
              <a:t>posedge</a:t>
            </a:r>
            <a:r>
              <a:rPr lang="en-US" dirty="0"/>
              <a:t> reset)</a:t>
            </a:r>
          </a:p>
          <a:p>
            <a:r>
              <a:rPr lang="en-US" dirty="0"/>
              <a:t>begin    </a:t>
            </a:r>
          </a:p>
          <a:p>
            <a:r>
              <a:rPr lang="en-US" dirty="0"/>
              <a:t>      if (reset)       </a:t>
            </a:r>
          </a:p>
          <a:p>
            <a:r>
              <a:rPr lang="en-US" dirty="0"/>
              <a:t>            motor &lt;= 0;                  // Motor OFF on reset              </a:t>
            </a:r>
          </a:p>
          <a:p>
            <a:r>
              <a:rPr lang="en-US" dirty="0"/>
              <a:t>      else   </a:t>
            </a:r>
          </a:p>
          <a:p>
            <a:r>
              <a:rPr lang="en-US" dirty="0"/>
              <a:t> begin         </a:t>
            </a:r>
          </a:p>
          <a:p>
            <a:r>
              <a:rPr lang="en-US" dirty="0"/>
              <a:t>       if (low &amp;&amp; !high)             </a:t>
            </a:r>
          </a:p>
          <a:p>
            <a:r>
              <a:rPr lang="en-US" dirty="0"/>
              <a:t>            motor &lt;= 1;</a:t>
            </a:r>
            <a:r>
              <a:rPr lang="en-US" dirty="0">
                <a:highlight>
                  <a:srgbClr val="FFFF00"/>
                </a:highlight>
              </a:rPr>
              <a:t>  </a:t>
            </a:r>
            <a:r>
              <a:rPr lang="en-US" dirty="0"/>
              <a:t>                </a:t>
            </a:r>
            <a:r>
              <a:rPr lang="en-US" i="1" dirty="0"/>
              <a:t>// Turn </a:t>
            </a:r>
            <a:r>
              <a:rPr lang="en-US" dirty="0"/>
              <a:t>ON motor if tank low                    </a:t>
            </a:r>
          </a:p>
          <a:p>
            <a:r>
              <a:rPr lang="en-US" dirty="0"/>
              <a:t>        else if (high)            </a:t>
            </a:r>
          </a:p>
          <a:p>
            <a:r>
              <a:rPr lang="en-US" dirty="0"/>
              <a:t>             motor &lt;= 0;                   // Turn OFF motor if tank full      </a:t>
            </a:r>
          </a:p>
          <a:p>
            <a:r>
              <a:rPr lang="en-US" dirty="0"/>
              <a:t>         else            </a:t>
            </a:r>
          </a:p>
          <a:p>
            <a:r>
              <a:rPr lang="en-US" dirty="0"/>
              <a:t>           motor &lt;= motor;          // Maintain previous state   </a:t>
            </a:r>
          </a:p>
          <a:p>
            <a:r>
              <a:rPr lang="en-US" dirty="0"/>
              <a:t>         end </a:t>
            </a:r>
          </a:p>
          <a:p>
            <a:r>
              <a:rPr lang="en-US" dirty="0"/>
              <a:t>end  </a:t>
            </a:r>
          </a:p>
          <a:p>
            <a:r>
              <a:rPr lang="en-US" dirty="0" err="1"/>
              <a:t>endmodule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502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60D6A3-0227-49F1-A754-08CC775C2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805" y="143435"/>
            <a:ext cx="10220390" cy="502025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DAB0E7-0324-4304-A451-5AF71D3B0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21341"/>
            <a:ext cx="12192000" cy="7135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837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5B877-843B-41F9-92B0-5171C4F55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80682"/>
            <a:ext cx="10364451" cy="1237129"/>
          </a:xfrm>
        </p:spPr>
        <p:txBody>
          <a:bodyPr>
            <a:noAutofit/>
          </a:bodyPr>
          <a:lstStyle/>
          <a:p>
            <a:r>
              <a:rPr lang="en-US" b="1" dirty="0"/>
              <a:t>RTL schematic of water controller 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2C9BDF-E0C3-47D2-9B4C-FB2817E30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7811"/>
            <a:ext cx="12192000" cy="6064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15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4AD21-D2A2-4260-B399-3D4E9CA6C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313765"/>
            <a:ext cx="10364451" cy="1138517"/>
          </a:xfrm>
        </p:spPr>
        <p:txBody>
          <a:bodyPr/>
          <a:lstStyle/>
          <a:p>
            <a:r>
              <a:rPr lang="en-US" b="1" dirty="0" err="1"/>
              <a:t>Ieee</a:t>
            </a:r>
            <a:r>
              <a:rPr lang="en-US" b="1" dirty="0"/>
              <a:t>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AF932-741B-412C-957B-59557155D75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452282"/>
            <a:ext cx="10363826" cy="4338917"/>
          </a:xfrm>
        </p:spPr>
        <p:txBody>
          <a:bodyPr>
            <a:normAutofit/>
          </a:bodyPr>
          <a:lstStyle/>
          <a:p>
            <a:r>
              <a:rPr lang="en-US" sz="2400" cap="none" dirty="0" err="1"/>
              <a:t>Kaniskaa</a:t>
            </a:r>
            <a:r>
              <a:rPr lang="en-US" sz="2400" cap="none" dirty="0"/>
              <a:t> M. S., </a:t>
            </a:r>
            <a:r>
              <a:rPr lang="en-US" sz="2400" cap="none" dirty="0" err="1"/>
              <a:t>Madanagopal</a:t>
            </a:r>
            <a:r>
              <a:rPr lang="en-US" sz="2400" cap="none" dirty="0"/>
              <a:t> C., Deepa M., </a:t>
            </a:r>
            <a:r>
              <a:rPr lang="en-US" sz="2400" cap="none" dirty="0" err="1"/>
              <a:t>Hariprasath</a:t>
            </a:r>
            <a:r>
              <a:rPr lang="en-US" sz="2400" cap="none" dirty="0"/>
              <a:t> K.</a:t>
            </a:r>
          </a:p>
          <a:p>
            <a:r>
              <a:rPr lang="en-US" sz="2400" cap="none" dirty="0"/>
              <a:t>“Water level controller with weather forecasting using 8051 microcontroller,”</a:t>
            </a:r>
          </a:p>
          <a:p>
            <a:r>
              <a:rPr lang="en-US" sz="2400" cap="none" dirty="0"/>
              <a:t> 2023 7th international conference on electronics</a:t>
            </a:r>
          </a:p>
          <a:p>
            <a:r>
              <a:rPr lang="en-US" sz="2400" cap="none" dirty="0"/>
              <a:t> Communication and aerospace technology (ICECA), 22-24 </a:t>
            </a:r>
            <a:r>
              <a:rPr lang="en-US" sz="2400" cap="none" dirty="0" err="1"/>
              <a:t>nov</a:t>
            </a:r>
            <a:r>
              <a:rPr lang="en-US" sz="2400" cap="none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3995655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EF368-E179-4F76-BB0B-D64536D80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149" y="376493"/>
            <a:ext cx="10364451" cy="986165"/>
          </a:xfrm>
        </p:spPr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476D5-623B-48AA-8A6D-669BB51DC02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766046"/>
            <a:ext cx="10363826" cy="42223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cap="none" dirty="0"/>
              <a:t>This project successfully demonstrates the use of </a:t>
            </a:r>
            <a:r>
              <a:rPr lang="en-US" sz="2400" cap="none" dirty="0" err="1"/>
              <a:t>verilog</a:t>
            </a:r>
            <a:r>
              <a:rPr lang="en-US" sz="2400" cap="none" dirty="0"/>
              <a:t> HDL for embedded automation.</a:t>
            </a:r>
          </a:p>
          <a:p>
            <a:pPr marL="0" indent="0" algn="just">
              <a:buNone/>
            </a:pPr>
            <a:r>
              <a:rPr lang="en-US" sz="2400" cap="none" dirty="0"/>
              <a:t>The smart water level controller is simple yet efficient, ideal for real-time applications and academic demonstrations. It reflects key IEEE domains such as </a:t>
            </a:r>
            <a:r>
              <a:rPr lang="en-US" sz="2400" cap="none" dirty="0" err="1"/>
              <a:t>iot</a:t>
            </a:r>
            <a:r>
              <a:rPr lang="en-US" sz="2400" cap="none" dirty="0"/>
              <a:t>, embedded systems, and smart automation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01296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747C1-EAD5-4AB9-8599-97C77352D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799" y="2303882"/>
            <a:ext cx="10364451" cy="1596177"/>
          </a:xfrm>
        </p:spPr>
        <p:txBody>
          <a:bodyPr>
            <a:normAutofit/>
          </a:bodyPr>
          <a:lstStyle/>
          <a:p>
            <a:r>
              <a:rPr lang="en-US" sz="6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6372136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104</TotalTime>
  <Words>832</Words>
  <Application>Microsoft Office PowerPoint</Application>
  <PresentationFormat>Widescreen</PresentationFormat>
  <Paragraphs>97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Bahnschrift Condensed</vt:lpstr>
      <vt:lpstr>Tw Cen MT</vt:lpstr>
      <vt:lpstr>Droplet</vt:lpstr>
      <vt:lpstr>Water Level Controller System</vt:lpstr>
      <vt:lpstr>Introduction </vt:lpstr>
      <vt:lpstr>Abstract </vt:lpstr>
      <vt:lpstr>Workflow / Block Diagram</vt:lpstr>
      <vt:lpstr>PowerPoint Presentation</vt:lpstr>
      <vt:lpstr>Proposed System</vt:lpstr>
      <vt:lpstr>Water Level Controller System</vt:lpstr>
      <vt:lpstr>Verilog code</vt:lpstr>
      <vt:lpstr>PowerPoint Presentation</vt:lpstr>
      <vt:lpstr>RTL schematic of water controller system</vt:lpstr>
      <vt:lpstr>Ieee reference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Water Level Controller System</dc:title>
  <dc:creator>shivaleela Kandagal</dc:creator>
  <cp:lastModifiedBy>shivaleela Kandagal</cp:lastModifiedBy>
  <cp:revision>2</cp:revision>
  <dcterms:created xsi:type="dcterms:W3CDTF">2025-11-10T16:07:38Z</dcterms:created>
  <dcterms:modified xsi:type="dcterms:W3CDTF">2025-11-11T14:42:16Z</dcterms:modified>
</cp:coreProperties>
</file>